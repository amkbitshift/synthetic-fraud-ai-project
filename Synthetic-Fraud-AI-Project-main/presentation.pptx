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4" r:id="rId4"/>
    <p:sldMasterId id="214748365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9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304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3" name="Google Shape;1305;p1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306;p1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1307;p1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1308;p1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1309;p1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1310;p1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311;p1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312;p1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313;p1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314;p1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315;p1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316;p1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317;p1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318;p1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319;p1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320;p1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321;p1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322;p1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323;p1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324;p1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325;p1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1326;p1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1327;p1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328;p1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329;p1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330;p1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331;p1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332;p1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333;p1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334;p1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335;p1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336;p1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337;p1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338;p1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339;p1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340;p1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341;p1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342;p1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 w="0">
            <a:noFill/>
          </a:ln>
          <a:effectLst>
            <a:outerShdw dist="0" dir="0" blurRad="1573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2" name="Google Shape;1345;p17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163" name="Google Shape;1346;p17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4" name="Google Shape;1347;p17"/>
            <p:cNvGrpSpPr/>
            <p:nvPr/>
          </p:nvGrpSpPr>
          <p:grpSpPr>
            <a:xfrm>
              <a:off x="8309880" y="-108720"/>
              <a:ext cx="241560" cy="882720"/>
              <a:chOff x="8309880" y="-108720"/>
              <a:chExt cx="241560" cy="882720"/>
            </a:xfrm>
          </p:grpSpPr>
          <p:sp>
            <p:nvSpPr>
              <p:cNvPr id="165" name="Google Shape;1348;p17"/>
              <p:cNvSpPr/>
              <p:nvPr/>
            </p:nvSpPr>
            <p:spPr>
              <a:xfrm rot="16200000">
                <a:off x="8354520" y="57708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1349;p17"/>
              <p:cNvSpPr/>
              <p:nvPr/>
            </p:nvSpPr>
            <p:spPr>
              <a:xfrm rot="16200000">
                <a:off x="8355240" y="4302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1350;p17"/>
              <p:cNvSpPr/>
              <p:nvPr/>
            </p:nvSpPr>
            <p:spPr>
              <a:xfrm rot="16200000">
                <a:off x="8355240" y="2840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351;p17"/>
              <p:cNvSpPr/>
              <p:nvPr/>
            </p:nvSpPr>
            <p:spPr>
              <a:xfrm rot="16200000">
                <a:off x="8355240" y="1378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352;p17"/>
              <p:cNvSpPr/>
              <p:nvPr/>
            </p:nvSpPr>
            <p:spPr>
              <a:xfrm rot="16200000">
                <a:off x="8355240" y="-79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353;p17"/>
              <p:cNvSpPr/>
              <p:nvPr/>
            </p:nvSpPr>
            <p:spPr>
              <a:xfrm rot="16200000">
                <a:off x="8355240" y="-1540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1" name="Google Shape;1354;p17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172" name="Google Shape;1355;p17"/>
            <p:cNvSpPr/>
            <p:nvPr/>
          </p:nvSpPr>
          <p:spPr>
            <a:xfrm>
              <a:off x="261108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356;p17"/>
            <p:cNvSpPr/>
            <p:nvPr/>
          </p:nvSpPr>
          <p:spPr>
            <a:xfrm>
              <a:off x="394668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357;p17"/>
            <p:cNvSpPr/>
            <p:nvPr/>
          </p:nvSpPr>
          <p:spPr>
            <a:xfrm>
              <a:off x="39704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358;p17"/>
            <p:cNvSpPr/>
            <p:nvPr/>
          </p:nvSpPr>
          <p:spPr>
            <a:xfrm>
              <a:off x="25174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359;p17"/>
            <p:cNvSpPr/>
            <p:nvPr/>
          </p:nvSpPr>
          <p:spPr>
            <a:xfrm>
              <a:off x="2541600" y="-91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" name="Google Shape;1360;p17"/>
          <p:cNvSpPr/>
          <p:nvPr/>
        </p:nvSpPr>
        <p:spPr>
          <a:xfrm rot="16200000">
            <a:off x="341640" y="-34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8" name="Google Shape;1361;p17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179" name="Google Shape;1362;p17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363;p17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364;p17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365;p17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366;p17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367;p17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368;p17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369;p17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370;p17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371;p17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372;p17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373;p17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374;p17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375;p17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3" name="Google Shape;1376;p17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Google Shape;1377;p17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5" name="Google Shape;1378;p17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196" name="Google Shape;1379;p17"/>
            <p:cNvSpPr/>
            <p:nvPr/>
          </p:nvSpPr>
          <p:spPr>
            <a:xfrm>
              <a:off x="5693760" y="5040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380;p17"/>
            <p:cNvSpPr/>
            <p:nvPr/>
          </p:nvSpPr>
          <p:spPr>
            <a:xfrm>
              <a:off x="7029360" y="5203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381;p17"/>
            <p:cNvSpPr/>
            <p:nvPr/>
          </p:nvSpPr>
          <p:spPr>
            <a:xfrm>
              <a:off x="7053480" y="522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382;p17"/>
            <p:cNvSpPr/>
            <p:nvPr/>
          </p:nvSpPr>
          <p:spPr>
            <a:xfrm>
              <a:off x="5600520" y="4993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383;p17"/>
            <p:cNvSpPr/>
            <p:nvPr/>
          </p:nvSpPr>
          <p:spPr>
            <a:xfrm>
              <a:off x="5624280" y="5018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1" name="Google Shape;1384;p17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202" name="Google Shape;1385;p17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386;p17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387;p17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388;p17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389;p17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0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0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35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35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59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36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5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36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37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4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37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9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380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38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1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39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0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03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40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0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11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41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2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42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33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43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0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b="0" lang="en" sz="1200" strike="noStrike" u="non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b="1" lang="en" sz="1200" strike="noStrike" u="sng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51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35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5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35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53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36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4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36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5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37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6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37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57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458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38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59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39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0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60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40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1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62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41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3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42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64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43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" name="Google Shape;10;p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38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2" name="Google Shape;50;p2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" name="Google Shape;51;p2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" name="Google Shape;52;p2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5" name="Google Shape;53;p2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4;p2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5;p2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6;p2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57;p2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58;p2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1" name="Google Shape;59;p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2" name="Google Shape;60;p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65;p2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8" name="Google Shape;66;p2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68;p2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1" name="Google Shape;69;p2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72;p2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73;p2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74;p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7" name="Google Shape;75;p2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8" name="Google Shape;76;p2"/>
            <p:cNvSpPr/>
            <p:nvPr/>
          </p:nvSpPr>
          <p:spPr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81;p2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4" name="Google Shape;82;p2"/>
            <p:cNvSpPr/>
            <p:nvPr/>
          </p:nvSpPr>
          <p:spPr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88;p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1" name="Google Shape;89;p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2" name="Google Shape;90;p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1;p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2;p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3;p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4;p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5;p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6;p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7;p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98;p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99;p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100;p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3" name="Google Shape;101;p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2;p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3;p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4;p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5;p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6;p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7;p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3" name="Google Shape;111;p2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4" name="Google Shape;112;p2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fill="none" w="6719" h="42862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3;p2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4;p2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15;p2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16;p2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9" name="Google Shape;117;p2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0" name="Google Shape;118;p2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19;p2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0;p2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1;p2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2;p2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5" name="Google Shape;123;p2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6" name="Google Shape;124;p2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5;p2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Google Shape;126;p2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1391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" name="Google Shape;1392;p1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393;p1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394;p1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395;p1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396;p1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397;p1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398;p1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1399;p1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1400;p1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1401;p1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402;p1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403;p1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404;p1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405;p1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406;p1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407;p1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408;p1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409;p1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410;p1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411;p1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412;p1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413;p1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414;p1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415;p1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416;p1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417;p1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418;p1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419;p1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420;p1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421;p1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422;p1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423;p1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424;p1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425;p1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426;p1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427;p1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428;p1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429;p1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 w="0">
            <a:noFill/>
          </a:ln>
          <a:effectLst>
            <a:outerShdw dist="0" dir="0" blurRad="8568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48" name="Google Shape;1432;p18"/>
          <p:cNvGrpSpPr/>
          <p:nvPr/>
        </p:nvGrpSpPr>
        <p:grpSpPr>
          <a:xfrm>
            <a:off x="246240" y="1697040"/>
            <a:ext cx="241560" cy="882720"/>
            <a:chOff x="246240" y="1697040"/>
            <a:chExt cx="241560" cy="882720"/>
          </a:xfrm>
        </p:grpSpPr>
        <p:sp>
          <p:nvSpPr>
            <p:cNvPr id="249" name="Google Shape;1433;p18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434;p18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435;p18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436;p18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437;p18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438;p18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5" name="Google Shape;1439;p18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256" name="Google Shape;1440;p18"/>
            <p:cNvSpPr/>
            <p:nvPr/>
          </p:nvSpPr>
          <p:spPr>
            <a:xfrm>
              <a:off x="2366280" y="-84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441;p18"/>
            <p:cNvSpPr/>
            <p:nvPr/>
          </p:nvSpPr>
          <p:spPr>
            <a:xfrm>
              <a:off x="3701880" y="7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442;p18"/>
            <p:cNvSpPr/>
            <p:nvPr/>
          </p:nvSpPr>
          <p:spPr>
            <a:xfrm>
              <a:off x="3726000" y="103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443;p18"/>
            <p:cNvSpPr/>
            <p:nvPr/>
          </p:nvSpPr>
          <p:spPr>
            <a:xfrm>
              <a:off x="2273040" y="-131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444;p18"/>
            <p:cNvSpPr/>
            <p:nvPr/>
          </p:nvSpPr>
          <p:spPr>
            <a:xfrm>
              <a:off x="2296800" y="-106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1" name="Google Shape;1445;p18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262" name="Google Shape;1446;p18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447;p18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448;p18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449;p18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450;p18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7" name="Google Shape;1451;p18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Google Shape;1452;p18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Google Shape;1453;p1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70" name="Google Shape;1454;p18"/>
          <p:cNvGrpSpPr/>
          <p:nvPr/>
        </p:nvGrpSpPr>
        <p:grpSpPr>
          <a:xfrm>
            <a:off x="8694000" y="-363240"/>
            <a:ext cx="301320" cy="1520280"/>
            <a:chOff x="8694000" y="-363240"/>
            <a:chExt cx="301320" cy="1520280"/>
          </a:xfrm>
        </p:grpSpPr>
        <p:sp>
          <p:nvSpPr>
            <p:cNvPr id="271" name="Google Shape;1455;p18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456;p18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457;p18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458;p18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459;p18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6" name="Google Shape;1460;p18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277" name="Google Shape;1461;p18"/>
            <p:cNvSpPr/>
            <p:nvPr/>
          </p:nvSpPr>
          <p:spPr>
            <a:xfrm rot="16200000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78" name="Google Shape;1462;p18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279" name="Google Shape;1463;p18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280" name="Google Shape;1464;p18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" name="Google Shape;1465;p18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" name="Google Shape;1466;p18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" name="Google Shape;1467;p18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1468;p18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1469;p18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1470;p18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1471;p18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1472;p18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" name="Google Shape;1473;p18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0" name="Google Shape;1474;p18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291" name="Google Shape;1475;p18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" name="Google Shape;1476;p18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" name="Google Shape;1477;p18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" name="Google Shape;1478;p18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" name="Google Shape;1479;p18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6" name="Google Shape;1480;p18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7" name="Google Shape;1481;p18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8" name="Google Shape;1482;p18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9" name="Google Shape;1483;p18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0" name="Google Shape;1484;p18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tIns="18000" bIns="18000" anchor="ctr">
                  <a:noAutofit/>
                </a:bodyPr>
                <a:p>
                  <a:pPr defTabSz="9144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301" name="Google Shape;1485;p18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302" name="Google Shape;1486;p18"/>
            <p:cNvSpPr/>
            <p:nvPr/>
          </p:nvSpPr>
          <p:spPr>
            <a:xfrm>
              <a:off x="5810760" y="5013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fill="none" w="42863" h="6719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487;p18"/>
            <p:cNvSpPr/>
            <p:nvPr/>
          </p:nvSpPr>
          <p:spPr>
            <a:xfrm>
              <a:off x="7146360" y="5176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488;p18"/>
            <p:cNvSpPr/>
            <p:nvPr/>
          </p:nvSpPr>
          <p:spPr>
            <a:xfrm>
              <a:off x="7170480" y="5201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489;p18"/>
            <p:cNvSpPr/>
            <p:nvPr/>
          </p:nvSpPr>
          <p:spPr>
            <a:xfrm>
              <a:off x="5717520" y="4966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fill="none" w="2951" h="2976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490;p18"/>
            <p:cNvSpPr/>
            <p:nvPr/>
          </p:nvSpPr>
          <p:spPr>
            <a:xfrm>
              <a:off x="5741280" y="4991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230;p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467" name="Google Shape;231;p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232;p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233;p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234;p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235;p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236;p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237;p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238;p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239;p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240;p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241;p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242;p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243;p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244;p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245;p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246;p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247;p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248;p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249;p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250;p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251;p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252;p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253;p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254;p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255;p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256;p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257;p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258;p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259;p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260;p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261;p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262;p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263;p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" bIns="4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264;p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265;p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266;p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267;p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268;p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40" bIns="5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7" name="Google Shape;271;p4"/>
          <p:cNvGrpSpPr/>
          <p:nvPr/>
        </p:nvGrpSpPr>
        <p:grpSpPr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508" name="Google Shape;272;p4"/>
            <p:cNvSpPr/>
            <p:nvPr/>
          </p:nvSpPr>
          <p:spPr>
            <a:xfrm flipV="1" rot="16200000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273;p4"/>
            <p:cNvSpPr/>
            <p:nvPr/>
          </p:nvSpPr>
          <p:spPr>
            <a:xfrm flipV="1" rot="16200000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274;p4"/>
            <p:cNvSpPr/>
            <p:nvPr/>
          </p:nvSpPr>
          <p:spPr>
            <a:xfrm flipV="1" rot="16200000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275;p4"/>
            <p:cNvSpPr/>
            <p:nvPr/>
          </p:nvSpPr>
          <p:spPr>
            <a:xfrm flipV="1" rot="16200000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276;p4"/>
            <p:cNvSpPr/>
            <p:nvPr/>
          </p:nvSpPr>
          <p:spPr>
            <a:xfrm flipV="1" rot="16200000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277;p4"/>
            <p:cNvSpPr/>
            <p:nvPr/>
          </p:nvSpPr>
          <p:spPr>
            <a:xfrm flipV="1" rot="16200000">
              <a:off x="8204040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4" name="Google Shape;278;p4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15" name="Google Shape;279;p4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516" name="Google Shape;280;p4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281;p4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282;p4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19" name="Google Shape;283;p4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520" name="Google Shape;284;p4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521" name="Google Shape;285;p4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286;p4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287;p4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288;p4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5" name="Google Shape;289;p4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290;p4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291;p4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292;p4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293;p4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294;p4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1" name="Google Shape;295;p4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532" name="Google Shape;296;p4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297;p4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298;p4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299;p4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6" name="Google Shape;300;p4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7" name="Google Shape;301;p4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302;p4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303;p4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304;p4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1" name="Google Shape;305;p4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42" name="Google Shape;306;p4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4120" bIns="24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3" name="Google Shape;307;p4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ubTitle"/>
          </p:nvPr>
        </p:nvSpPr>
        <p:spPr>
          <a:xfrm>
            <a:off x="1676520" y="3095640"/>
            <a:ext cx="579096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Enhancing detection with CTGAN-generated synthetic data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47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548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4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555" name="Google Shape;2708;p34"/>
            <p:cNvSpPr/>
            <p:nvPr/>
          </p:nvSpPr>
          <p:spPr>
            <a:xfrm flipV="1" rot="5400000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fill="none" w="55332" h="4834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75240" bIns="75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2709;p34"/>
            <p:cNvSpPr/>
            <p:nvPr/>
          </p:nvSpPr>
          <p:spPr>
            <a:xfrm flipV="1" rot="5400000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2710;p34"/>
            <p:cNvSpPr/>
            <p:nvPr/>
          </p:nvSpPr>
          <p:spPr>
            <a:xfrm flipV="1" rot="5400000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2711;p34"/>
            <p:cNvSpPr/>
            <p:nvPr/>
          </p:nvSpPr>
          <p:spPr>
            <a:xfrm flipV="1" rot="5400000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2712;p34"/>
            <p:cNvSpPr/>
            <p:nvPr/>
          </p:nvSpPr>
          <p:spPr>
            <a:xfrm flipV="1" rot="5400000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240" bIns="212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2713;p34"/>
            <p:cNvSpPr/>
            <p:nvPr/>
          </p:nvSpPr>
          <p:spPr>
            <a:xfrm flipV="1" rot="5400000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fill="none" w="36417" h="5628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61" name="Google Shape;2714;p34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562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67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568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569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7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9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580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2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3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4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5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6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7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8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90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591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5" name="PlaceHolder 2"/>
          <p:cNvSpPr>
            <a:spLocks noGrp="1"/>
          </p:cNvSpPr>
          <p:nvPr>
            <p:ph type="title"/>
          </p:nvPr>
        </p:nvSpPr>
        <p:spPr>
          <a:xfrm>
            <a:off x="1314360" y="1133640"/>
            <a:ext cx="6505200" cy="19998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38000"/>
              </a:srgbClr>
            </a:outerShdw>
          </a:effectLst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8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Fraud </a:t>
            </a:r>
            <a:r>
              <a:rPr b="1" lang="en-US" sz="5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Detection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714240" y="1085760"/>
            <a:ext cx="4400280" cy="1199880"/>
          </a:xfrm>
          <a:prstGeom prst="rect">
            <a:avLst/>
          </a:prstGeom>
          <a:noFill/>
          <a:ln w="0">
            <a:noFill/>
          </a:ln>
          <a:effectLst>
            <a:outerShdw dist="0" dir="0" blurRad="1573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Exo"/>
                <a:ea typeface="Exo"/>
              </a:rPr>
              <a:t>Introduction 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2"/>
          <p:cNvSpPr>
            <a:spLocks noGrp="1"/>
          </p:cNvSpPr>
          <p:nvPr>
            <p:ph type="subTitle"/>
          </p:nvPr>
        </p:nvSpPr>
        <p:spPr>
          <a:xfrm>
            <a:off x="714240" y="2362320"/>
            <a:ext cx="4400280" cy="16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Generative AI addresses a core challenge: 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class imbalance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in fraud datasets by producing realistic synthetic fraud samples using </a:t>
            </a:r>
            <a:r>
              <a:rPr b="0" i="1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CTGAN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approach aims to augment training data to improve model performance and detection metrics, particularly </a:t>
            </a:r>
            <a:r>
              <a:rPr b="0" i="1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recall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and F1-score.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8" name="Google Shape;2807;p37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bl" blurRad="657360" rotWithShape="0">
              <a:schemeClr val="accent2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9" name="Google Shape;2808;p37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0" name="Google Shape;2809;p37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11" name="Google Shape;2810;p37"/>
          <p:cNvGrpSpPr/>
          <p:nvPr/>
        </p:nvGrpSpPr>
        <p:grpSpPr>
          <a:xfrm>
            <a:off x="7471800" y="3617640"/>
            <a:ext cx="883080" cy="241560"/>
            <a:chOff x="7471800" y="3617640"/>
            <a:chExt cx="883080" cy="241560"/>
          </a:xfrm>
        </p:grpSpPr>
        <p:sp>
          <p:nvSpPr>
            <p:cNvPr id="612" name="Google Shape;2811;p37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2812;p37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2813;p37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2814;p37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2815;p37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2816;p37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8" name="Google Shape;2817;p37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619" name="Google Shape;2818;p3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2819;p37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2820;p37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2" name="Google Shape;2821;p3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3" name="Google Shape;2822;p37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4" name="Google Shape;2823;p37"/>
          <p:cNvGrpSpPr/>
          <p:nvPr/>
        </p:nvGrpSpPr>
        <p:grpSpPr>
          <a:xfrm>
            <a:off x="2596320" y="4298040"/>
            <a:ext cx="882720" cy="241560"/>
            <a:chOff x="2596320" y="4298040"/>
            <a:chExt cx="882720" cy="241560"/>
          </a:xfrm>
        </p:grpSpPr>
        <p:sp>
          <p:nvSpPr>
            <p:cNvPr id="625" name="Google Shape;2824;p37"/>
            <p:cNvSpPr/>
            <p:nvPr/>
          </p:nvSpPr>
          <p:spPr>
            <a:xfrm>
              <a:off x="2596320" y="4298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6" name="Google Shape;2825;p37"/>
            <p:cNvSpPr/>
            <p:nvPr/>
          </p:nvSpPr>
          <p:spPr>
            <a:xfrm>
              <a:off x="2743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7" name="Google Shape;2826;p37"/>
            <p:cNvSpPr/>
            <p:nvPr/>
          </p:nvSpPr>
          <p:spPr>
            <a:xfrm>
              <a:off x="288972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8" name="Google Shape;2827;p37"/>
            <p:cNvSpPr/>
            <p:nvPr/>
          </p:nvSpPr>
          <p:spPr>
            <a:xfrm>
              <a:off x="303624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9" name="Google Shape;2828;p37"/>
            <p:cNvSpPr/>
            <p:nvPr/>
          </p:nvSpPr>
          <p:spPr>
            <a:xfrm>
              <a:off x="318240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0" name="Google Shape;2829;p37"/>
            <p:cNvSpPr/>
            <p:nvPr/>
          </p:nvSpPr>
          <p:spPr>
            <a:xfrm>
              <a:off x="3328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1" name="Google Shape;2830;p37"/>
          <p:cNvGrpSpPr/>
          <p:nvPr/>
        </p:nvGrpSpPr>
        <p:grpSpPr>
          <a:xfrm>
            <a:off x="4762080" y="4298040"/>
            <a:ext cx="1105920" cy="133560"/>
            <a:chOff x="4762080" y="4298040"/>
            <a:chExt cx="1105920" cy="133560"/>
          </a:xfrm>
        </p:grpSpPr>
        <p:grpSp>
          <p:nvGrpSpPr>
            <p:cNvPr id="632" name="Google Shape;2831;p37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633" name="Google Shape;2832;p37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2833;p37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5" name="Google Shape;2834;p37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6" name="Google Shape;2835;p37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7" name="Google Shape;2836;p37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8" name="Google Shape;2837;p37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9" name="Google Shape;2838;p37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0" name="Google Shape;2839;p37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1" name="Google Shape;2840;p37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2" name="Google Shape;2841;p37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43" name="Google Shape;2842;p37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644" name="Google Shape;2843;p37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5" name="Google Shape;2844;p37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6" name="Google Shape;2845;p37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7" name="Google Shape;2846;p37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2847;p37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2848;p37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0" name="Google Shape;2849;p37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1" name="Google Shape;2850;p37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2" name="Google Shape;2851;p37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3" name="Google Shape;2852;p37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5" name="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Problem &amp; </a:t>
            </a:r>
            <a:r>
              <a:rPr b="1" lang="en-US" sz="40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Goals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6" name="image69f4495ff00a7" descr="image69f4495ff00aa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Class imbalance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8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The Credit Card Fraud dataset has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fraud cases 1%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causing models to under-detect fraud and yield low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recall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Imbalanced classes lead to many false negatives and poor real-world performance.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4528;p69"/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bl" blurRad="657360" rotWithShape="0">
              <a:schemeClr val="accent2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866880" y="752400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dist="0" dir="0" blurRad="8568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Objective: synthesize fraud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 type="subTitle"/>
          </p:nvPr>
        </p:nvSpPr>
        <p:spPr>
          <a:xfrm>
            <a:off x="866880" y="1962000"/>
            <a:ext cx="4466880" cy="24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Train </a:t>
            </a:r>
            <a:r>
              <a:rPr b="0" i="1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CTGAN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on existing fraud samples to generate realistic synthetic fraud, then augment the dataset and retrain models (Random Forest).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Goal: achieve </a:t>
            </a: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higher recall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 and improved F1-score, reducing false negatives.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2" name="Google Shape;4531;p69"/>
          <p:cNvSpPr/>
          <p:nvPr/>
        </p:nvSpPr>
        <p:spPr>
          <a:xfrm>
            <a:off x="3247920" y="439092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3120" bIns="3312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63" name="Google Shape;4532;p69"/>
          <p:cNvGrpSpPr/>
          <p:nvPr/>
        </p:nvGrpSpPr>
        <p:grpSpPr>
          <a:xfrm>
            <a:off x="7766280" y="3306960"/>
            <a:ext cx="241560" cy="882720"/>
            <a:chOff x="7766280" y="3306960"/>
            <a:chExt cx="241560" cy="882720"/>
          </a:xfrm>
        </p:grpSpPr>
        <p:sp>
          <p:nvSpPr>
            <p:cNvPr id="664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9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0" name="Google Shape;4539;p69"/>
          <p:cNvGrpSpPr/>
          <p:nvPr/>
        </p:nvGrpSpPr>
        <p:grpSpPr>
          <a:xfrm>
            <a:off x="4789440" y="914760"/>
            <a:ext cx="1105920" cy="133920"/>
            <a:chOff x="4789440" y="914760"/>
            <a:chExt cx="1105920" cy="133920"/>
          </a:xfrm>
        </p:grpSpPr>
        <p:grpSp>
          <p:nvGrpSpPr>
            <p:cNvPr id="671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672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3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4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5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6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7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8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9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0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1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82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683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4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5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6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7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8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9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0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1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2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8000" bIns="180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93" name="Google Shape;4562;p69"/>
          <p:cNvGrpSpPr/>
          <p:nvPr/>
        </p:nvGrpSpPr>
        <p:grpSpPr>
          <a:xfrm>
            <a:off x="5058720" y="3935160"/>
            <a:ext cx="552600" cy="98640"/>
            <a:chOff x="5058720" y="3935160"/>
            <a:chExt cx="552600" cy="98640"/>
          </a:xfrm>
        </p:grpSpPr>
        <p:sp>
          <p:nvSpPr>
            <p:cNvPr id="694" name="Google Shape;4563;p69"/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4564;p69"/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4565;p69"/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7" name="Google Shape;4566;p69"/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8" name="Google Shape;4567;p69"/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Evaluation metrics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0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Key metrics: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Recall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Precision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F1-score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, and AUC.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Focus on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recall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 to minimize missed frauds while monitoring precision to control false positives.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Use confusion matrix and class-wise reporting to track improvements after augmentation.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accent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2" name="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Method &amp; </a:t>
            </a:r>
            <a:r>
              <a:rPr b="1" lang="en-US" sz="40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Results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3" name="image69f44960098b2" descr="image69f44960098b4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CTGAN data </a:t>
            </a:r>
            <a:r>
              <a:rPr b="1" lang="en-US" sz="28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generation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5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Train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CTGAN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 on the minority class (fraud) to learn tabular distributions and correlations.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Generate realistic synthetic fraud samples that preserve feature relationships and variability.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Augmentation + Random </a:t>
            </a:r>
            <a:r>
              <a:rPr b="1" lang="en-US" sz="28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Forest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7" name="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Combine synthetic fraud with original data to create a balanced training set.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Retrain a Random Forest classifier using stratified validation to evaluate gains.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8" name="image69f44960139ac" descr="image69f44960139ad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Improvements: recall &amp; </a:t>
            </a:r>
            <a:r>
              <a:rPr b="1" lang="en-US" sz="2800" strike="noStrike" u="none">
                <a:solidFill>
                  <a:schemeClr val="accent2"/>
                </a:solidFill>
                <a:effectLst/>
                <a:uFillTx/>
                <a:latin typeface="Exo"/>
              </a:rPr>
              <a:t>F1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0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Post-augmentation results show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higher recall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 and improved F1-score, indicating fewer missed frauds.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Monitor precision and AUC to ensure overall classifier robustness.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Exo"/>
              </a:rPr>
              <a:t>Conclusions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2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Augmenting imbalanced fraud data with </a:t>
            </a:r>
            <a:r>
              <a:rPr b="0" i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CTGAN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-generated samples substantially improves detection performance, notably </a:t>
            </a:r>
            <a:r>
              <a:rPr b="1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recall</a:t>
            </a: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 and F1.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T Sans"/>
              </a:rPr>
              <a:t>This generative approach offers a scalable solution to class imbalance, with further gains possible through model tuning and deployment in real-time pipelines.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2333520" y="79920"/>
            <a:ext cx="4476240" cy="2316600"/>
          </a:xfrm>
          <a:prstGeom prst="rect">
            <a:avLst/>
          </a:prstGeom>
          <a:noFill/>
          <a:ln w="0">
            <a:noFill/>
          </a:ln>
          <a:effectLst>
            <a:outerShdw dist="0" dir="0" blurRad="142920" rotWithShape="0">
              <a:srgbClr val="8fffff">
                <a:alpha val="40000"/>
              </a:srgbClr>
            </a:outerShdw>
          </a:effectLst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7000" strike="noStrike" u="none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Thanks!</a:t>
            </a:r>
            <a:endParaRPr b="0" lang="fr-FR" sz="7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 type="subTitle"/>
          </p:nvPr>
        </p:nvSpPr>
        <p:spPr>
          <a:xfrm>
            <a:off x="2333520" y="1666800"/>
            <a:ext cx="4476240" cy="111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Do you have any questions?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youremail@freepik.com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+91 620 421 838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yourcompany.com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ubTitle"/>
          </p:nvPr>
        </p:nvSpPr>
        <p:spPr>
          <a:xfrm>
            <a:off x="2790720" y="4133880"/>
            <a:ext cx="3571560" cy="39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Please keep this slide for attribution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16" name="Google Shape;4575;p70"/>
          <p:cNvGrpSpPr/>
          <p:nvPr/>
        </p:nvGrpSpPr>
        <p:grpSpPr>
          <a:xfrm>
            <a:off x="7077600" y="2284200"/>
            <a:ext cx="241560" cy="882720"/>
            <a:chOff x="7077600" y="2284200"/>
            <a:chExt cx="241560" cy="882720"/>
          </a:xfrm>
        </p:grpSpPr>
        <p:sp>
          <p:nvSpPr>
            <p:cNvPr id="717" name="Google Shape;4576;p70"/>
            <p:cNvSpPr/>
            <p:nvPr/>
          </p:nvSpPr>
          <p:spPr>
            <a:xfrm rot="16200000">
              <a:off x="7122240" y="29700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4577;p70"/>
            <p:cNvSpPr/>
            <p:nvPr/>
          </p:nvSpPr>
          <p:spPr>
            <a:xfrm rot="16200000">
              <a:off x="7122960" y="2823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4578;p70"/>
            <p:cNvSpPr/>
            <p:nvPr/>
          </p:nvSpPr>
          <p:spPr>
            <a:xfrm rot="16200000">
              <a:off x="7122960" y="2676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0" name="Google Shape;4579;p70"/>
            <p:cNvSpPr/>
            <p:nvPr/>
          </p:nvSpPr>
          <p:spPr>
            <a:xfrm rot="16200000">
              <a:off x="7122960" y="25308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1" name="Google Shape;4580;p70"/>
            <p:cNvSpPr/>
            <p:nvPr/>
          </p:nvSpPr>
          <p:spPr>
            <a:xfrm rot="16200000">
              <a:off x="7122960" y="2384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4581;p70"/>
            <p:cNvSpPr/>
            <p:nvPr/>
          </p:nvSpPr>
          <p:spPr>
            <a:xfrm rot="16200000">
              <a:off x="7122960" y="22384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23" name="Google Shape;4582;p70"/>
          <p:cNvGrpSpPr/>
          <p:nvPr/>
        </p:nvGrpSpPr>
        <p:grpSpPr>
          <a:xfrm>
            <a:off x="7078680" y="3922200"/>
            <a:ext cx="552240" cy="98640"/>
            <a:chOff x="7078680" y="3922200"/>
            <a:chExt cx="552240" cy="98640"/>
          </a:xfrm>
        </p:grpSpPr>
        <p:sp>
          <p:nvSpPr>
            <p:cNvPr id="724" name="Google Shape;4583;p70"/>
            <p:cNvSpPr/>
            <p:nvPr/>
          </p:nvSpPr>
          <p:spPr>
            <a:xfrm rot="5400000">
              <a:off x="7532280" y="392220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5" name="Google Shape;4584;p70"/>
            <p:cNvSpPr/>
            <p:nvPr/>
          </p:nvSpPr>
          <p:spPr>
            <a:xfrm rot="5400000">
              <a:off x="7558920" y="394920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6" name="Google Shape;4585;p70"/>
            <p:cNvSpPr/>
            <p:nvPr/>
          </p:nvSpPr>
          <p:spPr>
            <a:xfrm rot="5400000">
              <a:off x="7078680" y="3925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7" name="Google Shape;4586;p70"/>
            <p:cNvSpPr/>
            <p:nvPr/>
          </p:nvSpPr>
          <p:spPr>
            <a:xfrm rot="5400000">
              <a:off x="7102440" y="39492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8" name="Google Shape;4587;p70"/>
            <p:cNvSpPr/>
            <p:nvPr/>
          </p:nvSpPr>
          <p:spPr>
            <a:xfrm rot="5400000">
              <a:off x="7354440" y="378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29" name="Google Shape;4588;p70"/>
          <p:cNvGrpSpPr/>
          <p:nvPr/>
        </p:nvGrpSpPr>
        <p:grpSpPr>
          <a:xfrm>
            <a:off x="1819800" y="1189080"/>
            <a:ext cx="241560" cy="882720"/>
            <a:chOff x="1819800" y="1189080"/>
            <a:chExt cx="241560" cy="882720"/>
          </a:xfrm>
        </p:grpSpPr>
        <p:sp>
          <p:nvSpPr>
            <p:cNvPr id="730" name="Google Shape;4589;p70"/>
            <p:cNvSpPr/>
            <p:nvPr/>
          </p:nvSpPr>
          <p:spPr>
            <a:xfrm rot="5400000">
              <a:off x="1864440" y="114408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4590;p70"/>
            <p:cNvSpPr/>
            <p:nvPr/>
          </p:nvSpPr>
          <p:spPr>
            <a:xfrm rot="5400000">
              <a:off x="1865160" y="12909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2" name="Google Shape;4591;p70"/>
            <p:cNvSpPr/>
            <p:nvPr/>
          </p:nvSpPr>
          <p:spPr>
            <a:xfrm rot="5400000">
              <a:off x="1865160" y="14371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3" name="Google Shape;4592;p70"/>
            <p:cNvSpPr/>
            <p:nvPr/>
          </p:nvSpPr>
          <p:spPr>
            <a:xfrm rot="5400000">
              <a:off x="1865160" y="15832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4593;p70"/>
            <p:cNvSpPr/>
            <p:nvPr/>
          </p:nvSpPr>
          <p:spPr>
            <a:xfrm rot="5400000">
              <a:off x="1865160" y="17294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4594;p70"/>
            <p:cNvSpPr/>
            <p:nvPr/>
          </p:nvSpPr>
          <p:spPr>
            <a:xfrm rot="5400000">
              <a:off x="1865160" y="1875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6" name="Google Shape;4595;p70"/>
          <p:cNvGrpSpPr/>
          <p:nvPr/>
        </p:nvGrpSpPr>
        <p:grpSpPr>
          <a:xfrm>
            <a:off x="3881160" y="2922840"/>
            <a:ext cx="319320" cy="319680"/>
            <a:chOff x="3881160" y="2922840"/>
            <a:chExt cx="319320" cy="319680"/>
          </a:xfrm>
        </p:grpSpPr>
        <p:sp>
          <p:nvSpPr>
            <p:cNvPr id="737" name="Google Shape;4596;p70"/>
            <p:cNvSpPr/>
            <p:nvPr/>
          </p:nvSpPr>
          <p:spPr>
            <a:xfrm>
              <a:off x="4032360" y="2979000"/>
              <a:ext cx="109080" cy="263520"/>
            </a:xfrm>
            <a:custGeom>
              <a:avLst/>
              <a:gdLst>
                <a:gd name="textAreaLeft" fmla="*/ 0 w 109080"/>
                <a:gd name="textAreaRight" fmla="*/ 109440 w 109080"/>
                <a:gd name="textAreaTop" fmla="*/ 0 h 263520"/>
                <a:gd name="textAreaBottom" fmla="*/ 263880 h 26352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4597;p70"/>
            <p:cNvSpPr/>
            <p:nvPr/>
          </p:nvSpPr>
          <p:spPr>
            <a:xfrm>
              <a:off x="3881160" y="2922840"/>
              <a:ext cx="319320" cy="31932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9" name="Google Shape;4598;p70"/>
          <p:cNvGrpSpPr/>
          <p:nvPr/>
        </p:nvGrpSpPr>
        <p:grpSpPr>
          <a:xfrm>
            <a:off x="4412160" y="2923200"/>
            <a:ext cx="319320" cy="319320"/>
            <a:chOff x="4412160" y="2923200"/>
            <a:chExt cx="319320" cy="319320"/>
          </a:xfrm>
        </p:grpSpPr>
        <p:sp>
          <p:nvSpPr>
            <p:cNvPr id="740" name="Google Shape;4599;p70"/>
            <p:cNvSpPr/>
            <p:nvPr/>
          </p:nvSpPr>
          <p:spPr>
            <a:xfrm>
              <a:off x="4469040" y="2980080"/>
              <a:ext cx="205920" cy="20592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205920"/>
                <a:gd name="textAreaBottom" fmla="*/ 206280 h 20592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1" name="Google Shape;4600;p70"/>
            <p:cNvSpPr/>
            <p:nvPr/>
          </p:nvSpPr>
          <p:spPr>
            <a:xfrm>
              <a:off x="4525200" y="3036240"/>
              <a:ext cx="93240" cy="93240"/>
            </a:xfrm>
            <a:custGeom>
              <a:avLst/>
              <a:gdLst>
                <a:gd name="textAreaLeft" fmla="*/ 0 w 93240"/>
                <a:gd name="textAreaRight" fmla="*/ 93600 w 93240"/>
                <a:gd name="textAreaTop" fmla="*/ 0 h 93240"/>
                <a:gd name="textAreaBottom" fmla="*/ 93600 h 9324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800" bIns="46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4601;p70"/>
            <p:cNvSpPr/>
            <p:nvPr/>
          </p:nvSpPr>
          <p:spPr>
            <a:xfrm>
              <a:off x="4412160" y="2923200"/>
              <a:ext cx="319320" cy="31932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3" name="Google Shape;4602;p70"/>
          <p:cNvGrpSpPr/>
          <p:nvPr/>
        </p:nvGrpSpPr>
        <p:grpSpPr>
          <a:xfrm>
            <a:off x="4943160" y="2923200"/>
            <a:ext cx="319320" cy="319680"/>
            <a:chOff x="4943160" y="2923200"/>
            <a:chExt cx="319320" cy="319680"/>
          </a:xfrm>
        </p:grpSpPr>
        <p:sp>
          <p:nvSpPr>
            <p:cNvPr id="744" name="Google Shape;4603;p70"/>
            <p:cNvSpPr/>
            <p:nvPr/>
          </p:nvSpPr>
          <p:spPr>
            <a:xfrm>
              <a:off x="5009400" y="2980080"/>
              <a:ext cx="18360" cy="183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360" bIns="9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4604;p70"/>
            <p:cNvSpPr/>
            <p:nvPr/>
          </p:nvSpPr>
          <p:spPr>
            <a:xfrm>
              <a:off x="4943160" y="2923200"/>
              <a:ext cx="319320" cy="319680"/>
            </a:xfrm>
            <a:custGeom>
              <a:avLst/>
              <a:gdLst>
                <a:gd name="textAreaLeft" fmla="*/ 0 w 319320"/>
                <a:gd name="textAreaRight" fmla="*/ 319680 w 319320"/>
                <a:gd name="textAreaTop" fmla="*/ 0 h 319680"/>
                <a:gd name="textAreaBottom" fmla="*/ 320040 h 31968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4605;p70"/>
            <p:cNvSpPr/>
            <p:nvPr/>
          </p:nvSpPr>
          <p:spPr>
            <a:xfrm>
              <a:off x="5084280" y="3054600"/>
              <a:ext cx="111960" cy="131040"/>
            </a:xfrm>
            <a:custGeom>
              <a:avLst/>
              <a:gdLst>
                <a:gd name="textAreaLeft" fmla="*/ 0 w 111960"/>
                <a:gd name="textAreaRight" fmla="*/ 112320 w 111960"/>
                <a:gd name="textAreaTop" fmla="*/ 0 h 131040"/>
                <a:gd name="textAreaBottom" fmla="*/ 131400 h 13104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4606;p70"/>
            <p:cNvSpPr/>
            <p:nvPr/>
          </p:nvSpPr>
          <p:spPr>
            <a:xfrm>
              <a:off x="5009400" y="3054960"/>
              <a:ext cx="18360" cy="1306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5520" bIns="65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8" name="Google Shape;4607;p70"/>
          <p:cNvGrpSpPr/>
          <p:nvPr/>
        </p:nvGrpSpPr>
        <p:grpSpPr>
          <a:xfrm>
            <a:off x="1854720" y="3021840"/>
            <a:ext cx="552600" cy="98640"/>
            <a:chOff x="1854720" y="3021840"/>
            <a:chExt cx="552600" cy="98640"/>
          </a:xfrm>
        </p:grpSpPr>
        <p:sp>
          <p:nvSpPr>
            <p:cNvPr id="749" name="Google Shape;4608;p70"/>
            <p:cNvSpPr/>
            <p:nvPr/>
          </p:nvSpPr>
          <p:spPr>
            <a:xfrm rot="5400000">
              <a:off x="2308680" y="3021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fill="none" w="3174" h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4609;p70"/>
            <p:cNvSpPr/>
            <p:nvPr/>
          </p:nvSpPr>
          <p:spPr>
            <a:xfrm rot="5400000">
              <a:off x="2334960" y="30488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4610;p70"/>
            <p:cNvSpPr/>
            <p:nvPr/>
          </p:nvSpPr>
          <p:spPr>
            <a:xfrm rot="5400000">
              <a:off x="1854720" y="3025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fill="none" w="2951" h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4611;p70"/>
            <p:cNvSpPr/>
            <p:nvPr/>
          </p:nvSpPr>
          <p:spPr>
            <a:xfrm rot="5400000">
              <a:off x="1878480" y="3048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3" name="Google Shape;4612;p70"/>
            <p:cNvSpPr/>
            <p:nvPr/>
          </p:nvSpPr>
          <p:spPr>
            <a:xfrm rot="5400000">
              <a:off x="2130480" y="288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fill="none" w="1" h="11504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w="19050">
              <a:solidFill>
                <a:srgbClr val="95ff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2026-05-01T06:34:07Z</dcterms:created>
  <dc:creator>Unknown Creator</dc:creator>
  <dc:description/>
  <dc:language>en-US</dc:language>
  <cp:lastModifiedBy>Unknown Creator</cp:lastModifiedBy>
  <dcterms:modified xsi:type="dcterms:W3CDTF">2026-05-01T06:34:07Z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